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4" r:id="rId14"/>
    <p:sldId id="265" r:id="rId15"/>
    <p:sldId id="266" r:id="rId16"/>
    <p:sldId id="261" r:id="rId11"/>
    <p:sldId id="267" r:id="rId17"/>
    <p:sldId id="268" r:id="rId18"/>
    <p:sldId id="269" r:id="rId19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9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E0 shows the graph is recoverable, P2 uses it forward, P3-A uses it backward. 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functions she asked for on 7/29: within-step (l=0) and cross-step (l&gt;=1) in one equation. If she raises CD-NOD: agree — our additive arms are linear, the nonparametric surrogate is the fair comparison and is in the round-2 simulation.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~100 ceiling is GRACE's and GRACE only ran P2's slot graph; ridge ran E0/MINJA and is bounded by samples per regime, not variables. </a:t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she asks power vs identifiability: the sweep answers it — blind gets detection at 20x data (0/2 -&gt; 2/2), never the gate. Additive-u follows regime frequency: 0/2 on E0 (5% active) vs 2/3 on MINJA (69%). Our additive arms are linear; nonparametric CD-NOD is in the round-2 sim.</a:t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Bars pool all persons; the frozen criterion uses episode-mean deltas (−1.43 vs pooled −1.52 — episodes differ in person count). Unbundling selection from serialization is decision 4.</a:t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the halves separate: auditing (her 8/21 trustworthiness pitch) is supported; mitigation failed its frozen rule twice. The 6/36 here is the mitigation round's own ungated arm; the replication round measured 8/36 (appendix). Power audit says the AgentPoison FAIL is mostly the acceptance rule — decision 5.</a:t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gate's operational value without overclaiming: replay-only coverage, clearly separated from the failed online test.</a:t>
            </a:r>
            <a:endParaRPr/>
          </a:p>
        </p:txBody>
      </p:sp>
      <p:sp>
        <p:nvSpPr>
          <p:cNvPr id="145" name="Google Shape;14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choice story: her constraints first, then the three candidates and why MemoryArena won — real persistent-state structure plus a plug-in registry so we compare against its built-in memory systems on the official scorer.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 description of the three components: the benchmark's structure and scores, what GRACE is and the multi-trial wrapper, and what our module actually serializes.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journey in three stages, negatives preserved: reproduce the zero, audit and fix the decoder, fail the input criterion once, freeze the compact serialization, then the new frozen round.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these carriers: MINJA is reproducible and self-contained; AgentPoison's StrategyQA track adds the label-free test; the EHR track is off-limits. The dilution detour is worth telling — it is why the decisive-cell rule exists.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each attack actually is, in one breath each, plus the gate that turns recovery into a defense attempt.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verbs: replicate the attack, recover the driver, attempt the defense. The next slide carries both verdicts.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347472" y="685800"/>
            <a:ext cx="84492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Causal Memory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7472" y="1874519"/>
            <a:ext cx="84490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Memory = write → hold → regime-gated read  (Layer 1, observed)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One learned graph, two uses: forward memory selection · backward auditing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7472" y="2971800"/>
            <a:ext cx="84492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E0 simulation — gated-edge recovery: supported</a:t>
            </a:r>
            <a:endParaRPr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P2 MemoryArena — compact memory</a:t>
            </a:r>
            <a:endParaRPr sz="12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P3-A auditing — supported, with boundaries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7472" y="4315968"/>
            <a:ext cx="8449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Today: v0.2 formulation · samples definition · scaling simulation · venue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Memory = write → hold → regime-gated read</a:t>
            </a:r>
            <a:endParaRPr/>
          </a:p>
        </p:txBody>
      </p:sp>
      <p:pic>
        <p:nvPicPr>
          <p:cNvPr descr="object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777240"/>
            <a:ext cx="8138160" cy="279694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47472" y="4343400"/>
            <a:ext cx="8449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same learned graph selects memory for the current query (forward) and traces a bad output to the write that caused it (backward).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formulation (Layer 1)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SCM &amp; method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47472" y="777240"/>
            <a:ext cx="8449200" cy="3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latin typeface="Georgia"/>
                <a:ea typeface="Georgia"/>
                <a:cs typeface="Georgia"/>
                <a:sym typeface="Georgia"/>
              </a:rPr>
              <a:t>Xₜ = (Xₜ¹ … Xₜᵈ): semantic slots, observed  ·  Uₜ ∈ {write, hold, read}  ·  Yₜ: output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xⱼ(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)  =  Σᵢ Σ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ₗ₌₀…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ᴷ [aᵢⱼₗ · gᵢⱼₗ(uₜ)] · xᵢ(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t−</a:t>
            </a: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)  +  εⱼ(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latin typeface="Georgia"/>
                <a:ea typeface="Georgia"/>
                <a:cs typeface="Georgia"/>
                <a:sym typeface="Georgia"/>
              </a:rPr>
              <a:t>l = </a:t>
            </a:r>
            <a:r>
              <a:rPr lang="en-US" sz="1150"/>
              <a:t>0</a:t>
            </a:r>
            <a:r>
              <a:rPr b="0" lang="en-US" sz="1150">
                <a:latin typeface="Georgia"/>
                <a:ea typeface="Georgia"/>
                <a:cs typeface="Georgia"/>
                <a:sym typeface="Georgia"/>
              </a:rPr>
              <a:t>: within-step · l ≥ 1: cross-step · hold: unwritten slot copies itself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latin typeface="Georgia"/>
                <a:ea typeface="Georgia"/>
                <a:cs typeface="Georgia"/>
                <a:sym typeface="Georgia"/>
              </a:rPr>
              <a:t>The gate multiplies the coefficient. A linear-additive uₜ-node only shifts the mean, so it misses gated edges. (A CD-NOD-style nonparametric surrogate could detect them; our round-1 baselines are linear.)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latin typeface="Georgia"/>
                <a:ea typeface="Georgia"/>
                <a:cs typeface="Georgia"/>
                <a:sym typeface="Georgia"/>
              </a:rPr>
              <a:t>Estimator — fit each regime separately; edge = significant in any regime; gated = coefficients differ ≥ 4×. Ran as GRACE-per-regime (P2) and per-regime ridge + FDR (E0, MINJA).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latin typeface="Georgia"/>
                <a:ea typeface="Georgia"/>
                <a:cs typeface="Georgia"/>
                <a:sym typeface="Georgia"/>
              </a:rPr>
              <a:t>Layer 2 = the same object over latent state (“what the agent is thinking”). Round 1 is entirely Layer 1.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Scale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your first 8/15 question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347472" y="822960"/>
            <a:ext cx="84490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Round 1 is small:  E0 8 variables · P2 7 slots · MINJA 6 event channels — all far under GRACE's ~100-variable ceiling; grouping never needed.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GRACE ran P2's slot graph; per-regime ridge ran E0 and MINJA. The ceiling belongs to the GRACE path.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347472" y="2331720"/>
            <a:ext cx="84490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Missing: the simulation you called mandatory — SCM/MLP data, known ground truth, SHD/F1, up to ~5,000 dims.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347472" y="3154680"/>
            <a:ext cx="844905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Round-2 proposal (runs on your sign-off):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 ∈ {50, 200, 1,000, 5,000} · MLP mechanisms · gated edge subset</a:t>
            </a:r>
            <a:b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Regime-GRACE vs blind PCMCI+ vs linear-additive u vs CD-NOD-style</a:t>
            </a:r>
            <a:b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grouping above the ceiling, reported as its own curve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Pooling hides gated edges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Part 1 · E0 simulation</a:t>
            </a:r>
            <a:endParaRPr/>
          </a:p>
        </p:txBody>
      </p:sp>
      <p:pic>
        <p:nvPicPr>
          <p:cNvPr descr="regim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658368"/>
            <a:ext cx="8503920" cy="240094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347472" y="3310128"/>
            <a:ext cx="84490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Blind discovery misses both read edges at 3,000 steps. With 20× data it finds them — but still cannot say when they act. Regime conditioning finds and gates both at 3,000.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Detection is a sample-size issue; the gate is a model-class issue.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Request 1 — choosing the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effectiveness · why MemoryArena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84490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Your constraints: an independent module injected into an existing repo (7/29) · one concrete benchmark, variables and samples defined first (8/15).</a:t>
            </a:r>
          </a:p>
          <a:p>
            <a:pPr>
              <a:lnSpc>
                <a:spcPct val="140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LongMemEval — no room for a graph on recall (ancestors = the answers; BM25 already 0.947) → diagnostic only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MemoryAgentBench — setup cost misjudged → dropped</a:t>
            </a:r>
          </a:p>
          <a:p>
            <a:pPr>
              <a:lnSpc>
                <a:spcPct val="140000"/>
              </a:lnSpc>
            </a:pPr>
            <a:r>
              <a:rPr sz="1100" b="1">
                <a:solidFill>
                  <a:srgbClr val="000000"/>
                </a:solidFill>
                <a:latin typeface="Georgia"/>
              </a:rPr>
              <a:t>·  MemoryArena — persistent state drives later actions in all 4 environments; plug-in memory registry, official scorer, 13 built-in systems → chosen</a:t>
            </a:r>
          </a:p>
          <a:p>
            <a:pPr>
              <a:lnSpc>
                <a:spcPct val="140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Travel environment: its multi-round correction loop is the closest real write → hold → read. Upstream has no license, so our system registers at runtime and the upstream stays clean.</a:t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Discovery method, verified by implementation: GRACE (causalts) main · CDNOTS+ baseline · UnCLe / CUTS+ / AVICI excluded (d ≤ 8 / no lag / no time series).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Request 1 — the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components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58368"/>
            <a:ext cx="8412480" cy="2602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3383280"/>
            <a:ext cx="84490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GRACE (causalts): neural temporal discovery, ~100-variable capacity, wrapped multi-trial — episodes are independent trials, no cross-episode lags.</a:t>
            </a:r>
          </a:p>
          <a:p>
            <a:pPr>
              <a:lnSpc>
                <a:spcPct val="135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Our module: the learned 7-slot graph picks what to send; a runtime-registered HTTP memory API plugs it into the arena beside 13 built-in memory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Request 1 — what we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three stages, all kept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84490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1 ·  IDs 1–5: PS 0% on both graph arms while SPS ≈ 97% — reproduced in a pre-registered rerun. The audit showed 31/37 persons failed only on slots the query never asked to change → built the inheritance decoder (exploratory repair on the same IDs: 100% PS).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2 ·  Held-out IDs 101–110: beat BM25 by +16.55 PS (main judgement PASS), but graph-vs-noG input fell only 14.7% against the required 30% → secondary FAIL. Diagnosis: shared scaffold and history dominate API input → compact target-delta serialization.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3 ·  New frozen held-out IDs 111–120 — the result on the next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Same graph, forward: compact memory (PASS)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Part 2 · MemoryArena, held-out IDs</a:t>
            </a:r>
            <a:endParaRPr/>
          </a:p>
        </p:txBody>
      </p:sp>
      <p:pic>
        <p:nvPicPr>
          <p:cNvPr descr="p2.png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8368"/>
            <a:ext cx="8229600" cy="319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347472" y="3931920"/>
            <a:ext cx="84490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Frozen criterion: PS loss ≤ 5 points and input reduction ≥ 30% vs noG → measured −1.43 and −39.55% → PASS.  vs BM25: +19.8 PS at −70% input.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Boundary: graph selection and compact serialization are bundled.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Request 2 — choosing the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trustworthiness · why MINJA + AgentPoison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84490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Your two routes (8/21): modify an existing attack and recover something hidden, or construct scenarios ourselves. We did both — constructed = E0; existing = a real memory-poisoning attack, so the hidden driver has ground truth.</a:t>
            </a:r>
          </a:p>
          <a:p>
            <a:pPr>
              <a:lnSpc>
                <a:spcPct val="140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00" b="1">
                <a:solidFill>
                  <a:srgbClr val="000000"/>
                </a:solidFill>
                <a:latin typeface="Georgia"/>
              </a:rPr>
              <a:t>·  MINJA — chosen first: self-contained QA memory injection, reproducible on our API model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AgentPoison — second carrier via its ReAct-StrategyQA track (enables label-free recovery); the EHR-agent track is off-limits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·  MemAudit — reimplemented as the baseline; our claim is temporal ancestry + one-graph-two-uses, a detection-score win is out of scope</a:t>
            </a:r>
          </a:p>
          <a:p>
            <a:pPr>
              <a:lnSpc>
                <a:spcPct val="140000"/>
              </a:lnSpc>
            </a:pPr>
            <a:r>
              <a:rPr sz="5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A detour that shaped the method: with diluted benign filler the driver vanished (0 note-free anomalous rounds) — retrieval was confounded with the visible note. The faithful config reproduced it, and recovery is only declared on the note-free ∧ poison-retrieved cell.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Request 2 — the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components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731520"/>
            <a:ext cx="8412480" cy="2024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2788920"/>
            <a:ext cx="84490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MINJA harness: 81 rounds per seed, instrumented memory, 6 event channels per round (trigger, note, poison-in-memory, poison-retrieved, anomalous, correct).</a:t>
            </a:r>
          </a:p>
          <a:p>
            <a:pPr>
              <a:lnSpc>
                <a:spcPct val="135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AgentPoison-StrategyQA: an optimized trigger pulls 2 poisoned records from a frozen DPR index (9,253 passages) → “I don't know” failures; paired ungated / no-op / gated arms from one immutable snapshot.</a:t>
            </a:r>
          </a:p>
          <a:p>
            <a:pPr>
              <a:lnSpc>
                <a:spcPct val="135000"/>
              </a:lnSpc>
            </a:pPr>
            <a:r>
              <a:rPr sz="1100" b="0">
                <a:solidFill>
                  <a:srgbClr val="000000"/>
                </a:solidFill>
                <a:latin typeface="Georgia"/>
              </a:rPr>
              <a:t>Gates: the recovered ancestry + regime decide which records to delete — offline replay first, then a real online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Request 2 — what we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replicate → recover →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84490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Replicate:  3 MINJA seeds × 81 rounds. The pathway is real — decisive note-free ∧ poison-retrieved cell 22/76 = 0.289, note-free control 0/77, held-out ASR 8/36 — with large seed differences (6/12 vs 1/12).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Georgia"/>
              </a:rPr>
              <a:t>Recover:  Regime-GRACE and the discovery baselines on the same traces; on AgentPoison, a label-free driver (64 calibration trajectories, 288 held-out; poison labels attached only afterwards).</a:t>
            </a:r>
          </a:p>
          <a:p>
            <a:pPr>
              <a:lnSpc>
                <a:spcPct val="140000"/>
              </a:lnSpc>
            </a:pPr>
            <a:r>
              <a:rPr sz="6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40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Defend:  replayed the ancestry + regime gate offline, then froze two online intervention protocols — results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Same graph, backward: auditing works, online defense does not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Part 3 · safety</a:t>
            </a:r>
            <a:endParaRPr/>
          </a:p>
        </p:txBody>
      </p:sp>
      <p:pic>
        <p:nvPicPr>
          <p:cNvPr descr="p3.png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658368"/>
            <a:ext cx="8503920" cy="25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347472" y="3364992"/>
            <a:ext cx="84490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Auditing: the hidden read edge recovered in 3/3 seeds and traced to its write round (MINJA); 2/2 poison records recovered label-free (AgentPoison).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Online deletion gate: ASR drops on both carriers, but only 1/3 seed blocks improve → FAIL, kept.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One-line caveats: MINJA's event channel is oracle-tagged; AgentPoison recovery had no pre-registered PASS.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Appendix — the regime condition in the replay gate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appendix · offline coverage</a:t>
            </a:r>
            <a:endParaRPr/>
          </a:p>
        </p:txBody>
      </p:sp>
      <p:pic>
        <p:nvPicPr>
          <p:cNvPr descr="gate.png" id="149" name="Google Shape;1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8229600" cy="183547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347472" y="2880360"/>
            <a:ext cx="844905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Dropping the regime condition keeps coverage (+2 anomalous rounds) while touching 43 more benign rounds — collateral 8.8% → 40.4%. The score-based baseline with the same regime condition is precise but covers only 36.4%.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Coverage counts on saved trajectories, zero LLM re-invocation — a policy-design signal. The online test of the same idea is P3-B, which failed.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347472" y="4700016"/>
            <a:ext cx="84490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results/real/causal_gate_v2.json · three seeds, micro-pooled: 107 anomalous / 136 benign rounds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