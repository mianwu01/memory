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7" r:id="rId18"/>
    <p:sldId id="268" r:id="rId1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777240"/>
            <a:ext cx="8449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000000"/>
                </a:solidFill>
                <a:latin typeface="Georgia"/>
              </a:rPr>
              <a:t>Causal memory — round 1 frozen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000000"/>
                </a:solidFill>
                <a:latin typeface="Georgia"/>
              </a:rPr>
              <a:t>Layer 1 (observed slots)  ·  write → hold → regime-gated read  ·  one recovered structure, used forward (selection) and backward (auditing)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2148840"/>
            <a:ext cx="84490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 b="1" i="0">
                <a:solidFill>
                  <a:srgbClr val="000000"/>
                </a:solidFill>
                <a:latin typeface="Georgia"/>
              </a:rPr>
              <a:t>Round-1 evidence, all frozen on disk:</a:t>
            </a:r>
          </a:p>
          <a:p>
            <a:pPr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Georgia"/>
              </a:rPr>
              <a:t>E0 — gated-edge recovery (synthetic): SUPPORTED. Blind discovery misses every read edge; conditioning on the regime recovers them all.</a:t>
            </a:r>
          </a:p>
          <a:p>
            <a:pPr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Georgia"/>
              </a:rPr>
              <a:t>P2 — graph-guided compact memory (MemoryArena, held-out IDs 111–120): PASS.</a:t>
            </a:r>
          </a:p>
          <a:p>
            <a:pPr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Georgia"/>
              </a:rPr>
              <a:t>P3-A — hidden-driver auditing (MINJA + AgentPoison): SUPPORTED, with stated identification boundaries.</a:t>
            </a:r>
          </a:p>
          <a:p>
            <a:pPr>
              <a:lnSpc>
                <a:spcPct val="130000"/>
              </a:lnSpc>
            </a:pPr>
            <a:r>
              <a:rPr sz="1250" b="0" i="0">
                <a:solidFill>
                  <a:srgbClr val="000000"/>
                </a:solidFill>
                <a:latin typeface="Georgia"/>
              </a:rPr>
              <a:t>P3-B — online mitigation (both carriers): FAIL, kept as a negative.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160520"/>
            <a:ext cx="8449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00" b="1" i="0">
                <a:solidFill>
                  <a:srgbClr val="000000"/>
                </a:solidFill>
                <a:latin typeface="Georgia"/>
              </a:rPr>
              <a:t>This meeting is for what round 1 did not settle: the v0.2 formulation, samples per variable, the scaling simulation, and the 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86460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 i="0">
                <a:solidFill>
                  <a:srgbClr val="555555"/>
                </a:solidFill>
                <a:latin typeface="Georgia"/>
              </a:rPr>
              <a:t>2026-08-30 · frozen = criterion and split fixed before any output existed · exploratory vs confirmatory labels kept throughout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00000"/>
                </a:solidFill>
                <a:latin typeface="Georgia"/>
              </a:rPr>
              <a:t>The object we converged on: memory = write → hold → regime-gated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Georgia"/>
              </a:rPr>
              <a:t>1 · the object</a:t>
            </a:r>
          </a:p>
        </p:txBody>
      </p:sp>
      <p:pic>
        <p:nvPicPr>
          <p:cNvPr id="4" name="Picture 3" descr="o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85800"/>
            <a:ext cx="8138160" cy="27969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4224528"/>
            <a:ext cx="84490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000000"/>
                </a:solidFill>
                <a:latin typeface="Georgia"/>
              </a:rPr>
              <a:t>One structural object now explains all three parts: what discovery must recover (E0), what selection uses forward (P2), and what auditing traverses backward (P3-A).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86460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 i="0">
                <a:solidFill>
                  <a:srgbClr val="555555"/>
                </a:solidFill>
                <a:latin typeface="Georgia"/>
              </a:rPr>
              <a:t>No numbers on this page on purpose — the claim is the object: memory as a persistent, regime-gated temporal dependency.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sz="1700" b="1" i="0">
                <a:solidFill>
                  <a:srgbClr val="000000"/>
                </a:solidFill>
                <a:latin typeface="Georgia"/>
              </a:rPr>
              <a:t>Your 8/15 questions → what v0.2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Georgia"/>
              </a:rPr>
              <a:t>2 · your questions, answered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77240"/>
            <a:ext cx="39776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00" b="1" i="0">
                <a:solidFill>
                  <a:srgbClr val="000000"/>
                </a:solidFill>
                <a:latin typeface="Georgia"/>
              </a:rPr>
              <a:t>Your 8/15 questions: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Georgia"/>
              </a:rPr>
              <a:t>·  what is a variable, at what granularity?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Georgia"/>
              </a:rPr>
              <a:t>·  what is a sample — how many per variable?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Georgia"/>
              </a:rPr>
              <a:t>·  how many variables can GRACE handle?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Georgia"/>
              </a:rPr>
              <a:t>·  what does the graph learn, and how does it act on memory?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Georgia"/>
              </a:rPr>
              <a:t>·  is the target trustworthiness or downstream benefit?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777240"/>
            <a:ext cx="4297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150" b="1" i="0">
                <a:solidFill>
                  <a:srgbClr val="000000"/>
                </a:solidFill>
                <a:latin typeface="Georgia"/>
              </a:rPr>
              <a:t>Now fixed in v0.2: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000000"/>
                </a:solidFill>
                <a:latin typeface="Georgia"/>
              </a:rPr>
              <a:t>·  t = interaction step; Xₜ = fixed-schema semantic slots with persistence Xₜ = vₜ if updated, else Xₜ₋₁ (Form A; vector-valued slots allowed — one of your three 8/15 definitions).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000000"/>
                </a:solidFill>
                <a:latin typeface="Georgia"/>
              </a:rPr>
              <a:t>·  Uₜ = read/write regime events; discovery input is (X, U), output Ĝ with per-edge gates.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000000"/>
                </a:solidFill>
                <a:latin typeface="Georgia"/>
              </a:rPr>
              <a:t>·  D = {τ⁽ⁿ⁾}: episodes are independent trials; effective samples counted per edge × lag × regime, never by concatenating short trajectories.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000000"/>
                </a:solidFill>
                <a:latin typeface="Georgia"/>
              </a:rPr>
              <a:t>·  forward: Ĝ → Fₜ, the memory frontier the current query needs; backward: Ĝ → the write ancestry of a bad output.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000000"/>
                </a:solidFill>
                <a:latin typeface="Georgia"/>
              </a:rPr>
              <a:t>·  both targets kept: downstream score is primary; graph/audit quality is the diagnostic axis.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315968"/>
            <a:ext cx="84490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 b="1" i="0">
                <a:solidFill>
                  <a:srgbClr val="000000"/>
                </a:solidFill>
                <a:latin typeface="Georgia"/>
              </a:rPr>
              <a:t>All of this was fixed before round 1 ran. Two things it leaves open — the written-out SCM and scale — are the next two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486460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 i="0">
                <a:solidFill>
                  <a:srgbClr val="555555"/>
                </a:solidFill>
                <a:latin typeface="Georgia"/>
              </a:rPr>
              <a:t>Granularity as a later design choice, vector-valued variables, repo + benchmark both — consistent with what you laid out on 8/15.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sz="1700" b="1" i="0">
                <a:solidFill>
                  <a:srgbClr val="000000"/>
                </a:solidFill>
                <a:latin typeface="Georgia"/>
              </a:rPr>
              <a:t>Part 1 — dormant memory edges vanish when regimes are pooled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Georgia"/>
              </a:rPr>
              <a:t>5 · E0 · synthetic, frozen</a:t>
            </a:r>
          </a:p>
        </p:txBody>
      </p:sp>
      <p:pic>
        <p:nvPicPr>
          <p:cNvPr id="4" name="Picture 3" descr="reg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58368"/>
            <a:ext cx="8503920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4160520"/>
            <a:ext cx="84490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 b="1" i="0">
                <a:solidFill>
                  <a:srgbClr val="000000"/>
                </a:solidFill>
                <a:latin typeface="Georgia"/>
              </a:rPr>
              <a:t>Memory dependence is intermittent: the read regime is part of the structural object, so uₜ enters discovery as an input in its own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86460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 i="0">
                <a:solidFill>
                  <a:srgbClr val="555555"/>
                </a:solidFill>
                <a:latin typeface="Georgia"/>
              </a:rPr>
              <a:t>Δ = 10, σ ∈ {0, 0.01, 0.1} · E0 v0 sweep agrees: blind PCMCI+ read-recall 0.0 in all nine (Δ, σ) configs; other recalls 1.0 for every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3273552"/>
            <a:ext cx="84490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050" b="0" i="0">
                <a:solidFill>
                  <a:srgbClr val="000000"/>
                </a:solidFill>
                <a:latin typeface="Georgia"/>
              </a:rPr>
              <a:t>Open in round 1: with 150 / 3,000 read samples this is also a power effect. Until a sample-size sweep for blind PCMCI+ exists, the claim is “required at practical sample sizes”. Additive u-as-node (a CD-NOD-style surrogate) scores 0/2 here and 2/3 on MINJA — </a:t>
            </a:r>
            <a:r>
              <a:rPr sz="1050" b="1" i="0">
                <a:solidFill>
                  <a:srgbClr val="C0392B"/>
                </a:solidFill>
                <a:latin typeface="Georgia"/>
              </a:rPr>
              <a:t>⟨FILL: why the difference⟩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sz="1650" b="1" i="0">
                <a:solidFill>
                  <a:srgbClr val="000000"/>
                </a:solidFill>
                <a:latin typeface="Georgia"/>
              </a:rPr>
              <a:t>Part 2 — forward use: quality held at 40% less input (PASS)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Georgia"/>
              </a:rPr>
              <a:t>6 · P2 · held-out IDs 111–120</a:t>
            </a:r>
          </a:p>
        </p:txBody>
      </p:sp>
      <p:pic>
        <p:nvPicPr>
          <p:cNvPr id="4" name="Picture 3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8229600" cy="31904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3913632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Criterion frozen before any IDs 111–120 output existed: PS loss vs noG ≤ 5 points AND input reduction ≥ 30% — measured −1.43 (95% CI [−4.29, 0.00], W/T/L 0/9/1) and −39.55% → PASS. Vs baselines: +19.80 PS over BM25 at −70.2% input; +1.07 vs long context at −79.0% input.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3913632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50" b="1" i="0">
                <a:solidFill>
                  <a:srgbClr val="000000"/>
                </a:solidFill>
                <a:latin typeface="Georgia"/>
              </a:rPr>
              <a:t>Boundary: graph selection and compact serialization are bundled; the adjacency mask alone is not isolated.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486460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 i="0">
                <a:solidFill>
                  <a:srgbClr val="555555"/>
                </a:solidFill>
                <a:latin typeface="Georgia"/>
              </a:rPr>
              <a:t>Four arms share model / decoder / steps / tools · graph learned excluding IDs 111–120 · prior secondary FAIL (−14.7%, IDs 101–110) kept.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sz="1700" b="1" i="0">
                <a:solidFill>
                  <a:srgbClr val="000000"/>
                </a:solidFill>
                <a:latin typeface="Georgia"/>
              </a:rPr>
              <a:t>Part 3 — backward use: auditing SUPPORTED, mitigation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Georgia"/>
              </a:rPr>
              <a:t>7 · P3 · frozen, both verdicts kept</a:t>
            </a:r>
          </a:p>
        </p:txBody>
      </p:sp>
      <p:pic>
        <p:nvPicPr>
          <p:cNvPr id="4" name="Picture 3" descr="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8503920" cy="25294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3401568"/>
            <a:ext cx="84490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Auditing: Regime-GRACE finds MINJA's hidden read edge in 3/3 seeds (gated 2/3) and provenance traces each back to its write round; AgentPoison's label-free driver recovers 2/2 poison records after the frozen cluster expansion (precision 100%). Mitigation: micro ASR falls on both carriers, yet each has only 1/3 seed blocks improving — the frozen ≥2/3 rule fails, twice.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279392"/>
            <a:ext cx="84490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 b="1" i="0">
                <a:solidFill>
                  <a:srgbClr val="000000"/>
                </a:solidFill>
                <a:latin typeface="Georgia"/>
              </a:rPr>
              <a:t>Recovery ≠ mitigation. The negative result stays; neither claim overwrites the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486460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 i="0">
                <a:solidFill>
                  <a:srgbClr val="555555"/>
                </a:solidFill>
                <a:latin typeface="Georgia"/>
              </a:rPr>
              <a:t>Boundaries: poison_retr is oracle-tagged; lag-0 direction from retrieve-before-act instrumentation; AgentPoison recovery had no pre-registered PASS.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sz="2000" b="1" i="0">
                <a:solidFill>
                  <a:srgbClr val="000000"/>
                </a:solidFill>
                <a:latin typeface="Georgia"/>
              </a:rPr>
              <a:t>What we need from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Georgia"/>
              </a:rPr>
              <a:t>8 ·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31520"/>
            <a:ext cx="84490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000000"/>
                </a:solidFill>
                <a:latin typeface="Georgia"/>
              </a:rPr>
              <a:t>1 · Formulation — is write → hold → regime-gated read, with frontier Fₜ, the object the paper is built on?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0" i="0">
                <a:solidFill>
                  <a:srgbClr val="333333"/>
                </a:solidFill>
                <a:latin typeface="Georgia"/>
              </a:rPr>
              <a:t>v0.2 makes it the source of truth (problem → primitive → samples → two uses → instantiations → evidence); the SCM slide is the written-out form.</a:t>
            </a:r>
          </a:p>
          <a:p>
            <a:pPr>
              <a:lnSpc>
                <a:spcPct val="115000"/>
              </a:lnSpc>
            </a:pPr>
            <a:r>
              <a:rPr sz="1100" b="1" i="0">
                <a:solidFill>
                  <a:srgbClr val="000000"/>
                </a:solidFill>
                <a:latin typeface="Georgia"/>
              </a:rPr>
              <a:t>2 · Samples per variable — does “episodes as independent trials, effective samples per edge × lag × regime” settle your 8/15 question?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0" i="0">
                <a:solidFill>
                  <a:srgbClr val="333333"/>
                </a:solidFill>
                <a:latin typeface="Georgia"/>
              </a:rPr>
              <a:t>No cross-episode lag stitching. The alternative is to make the amortized cross-episode estimator primary.</a:t>
            </a:r>
          </a:p>
          <a:p>
            <a:pPr>
              <a:lnSpc>
                <a:spcPct val="115000"/>
              </a:lnSpc>
            </a:pPr>
            <a:r>
              <a:rPr sz="1100" b="1" i="0">
                <a:solidFill>
                  <a:srgbClr val="000000"/>
                </a:solidFill>
                <a:latin typeface="Georgia"/>
              </a:rPr>
              <a:t>3 · Scale — run the d = 50 → 5,000 simulation as round 2 before writing, or is E0 plus grouping enough for the venue?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0" i="0">
                <a:solidFill>
                  <a:srgbClr val="333333"/>
                </a:solidFill>
                <a:latin typeface="Georgia"/>
              </a:rPr>
              <a:t>Round 1 has no SCM/MLP ground-truth simulation at scale (scale slide).</a:t>
            </a:r>
          </a:p>
          <a:p>
            <a:pPr>
              <a:lnSpc>
                <a:spcPct val="115000"/>
              </a:lnSpc>
            </a:pPr>
            <a:r>
              <a:rPr sz="1100" b="1" i="0">
                <a:solidFill>
                  <a:srgbClr val="000000"/>
                </a:solidFill>
                <a:latin typeface="Georgia"/>
              </a:rPr>
              <a:t>4 · Claim boundaries — how much unbundling / blinding before submission?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0" i="0">
                <a:solidFill>
                  <a:srgbClr val="333333"/>
                </a:solidFill>
                <a:latin typeface="Georgia"/>
              </a:rPr>
              <a:t>P2 bundles selection + serialization (a second-task ablation would isolate the mask); MINJA's recovery reads an oracle-tagged channel (fully label-free record discovery would remove it).</a:t>
            </a:r>
          </a:p>
          <a:p>
            <a:pPr>
              <a:lnSpc>
                <a:spcPct val="115000"/>
              </a:lnSpc>
            </a:pPr>
            <a:r>
              <a:rPr sz="1100" b="1" i="0">
                <a:solidFill>
                  <a:srgbClr val="000000"/>
                </a:solidFill>
                <a:latin typeface="Georgia"/>
              </a:rPr>
              <a:t>5 · P3-B — keep both frozen FAILs and stop, or run the drafted round 3?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0" i="0">
                <a:solidFill>
                  <a:srgbClr val="333333"/>
                </a:solidFill>
                <a:latin typeface="Georgia"/>
              </a:rPr>
              <a:t>The power audit shows 2/3 AgentPoison blocks on a 0-ASR floor, so the acceptance rule was unsatisfiable there; the round-3 draft fixes evaluability / exposure / noise and waits on your sign-off.</a:t>
            </a:r>
          </a:p>
          <a:p>
            <a:pPr>
              <a:lnSpc>
                <a:spcPct val="115000"/>
              </a:lnSpc>
            </a:pPr>
            <a:r>
              <a:rPr sz="1100" b="1" i="0">
                <a:solidFill>
                  <a:srgbClr val="000000"/>
                </a:solidFill>
                <a:latin typeface="Georgia"/>
              </a:rPr>
              <a:t>6 · Venue — you named a target deadline on 8/15; which one?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0" i="0">
                <a:solidFill>
                  <a:srgbClr val="333333"/>
                </a:solidFill>
                <a:latin typeface="Georgia"/>
              </a:rPr>
              <a:t>If ICLR 2027: papers due Sep 24 (abstracts Sep 19), about 3.5 weeks out </a:t>
            </a:r>
            <a:r>
              <a:rPr sz="900" b="1" i="0">
                <a:solidFill>
                  <a:srgbClr val="C0392B"/>
                </a:solidFill>
                <a:latin typeface="Georgia"/>
              </a:rPr>
              <a:t>⟨CONFIRM on iclr.cc⟩</a:t>
            </a:r>
            <a:r>
              <a:rPr sz="900" b="0" i="0">
                <a:solidFill>
                  <a:srgbClr val="333333"/>
                </a:solidFill>
                <a:latin typeface="Georgia"/>
              </a:rPr>
              <a:t>. Otherwise: which deadline is round 2 designed around?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86460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 i="0">
                <a:solidFill>
                  <a:srgbClr val="555555"/>
                </a:solidFill>
                <a:latin typeface="Georgia"/>
              </a:rPr>
              <a:t>Only (3) and (5) would need new runs, and only with your approval. Round-1 and round-2 negatives stay pass=false regardless.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00000"/>
                </a:solidFill>
                <a:latin typeface="Georgia"/>
              </a:rPr>
              <a:t>Appendix — how P2 went from PS = 0% to a frozen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appendix · P2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31520"/>
            <a:ext cx="84490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2000"/>
              </a:lnSpc>
            </a:pPr>
            <a:r>
              <a:rPr sz="1080" b="0">
                <a:solidFill>
                  <a:srgbClr val="000000"/>
                </a:solidFill>
                <a:latin typeface="Georgia"/>
              </a:rPr>
              <a:t>IDs 1–5 (original protocol):  PS 0.00% on both graph arms — reproduced exactly in the pre-registered rerun (run B). Cause is the strict full-plan denominator (SPS 96.9% while one wrong slot fails the whole person), not a scorer or parse bug.</a:t>
            </a:r>
          </a:p>
          <a:p>
            <a:pPr>
              <a:lnSpc>
                <a:spcPct val="142000"/>
              </a:lnSpc>
            </a:pPr>
            <a:r>
              <a:rPr sz="1080" b="0">
                <a:solidFill>
                  <a:srgbClr val="000000"/>
                </a:solidFill>
                <a:latin typeface="Georgia"/>
              </a:rPr>
              <a:t>Failure audit:  31/37 persons failed only on slots the query never asked to change → deterministic query-target/base-inheritance decoder (no gold access, no evaluator in the loop).</a:t>
            </a:r>
          </a:p>
          <a:p>
            <a:pPr>
              <a:lnSpc>
                <a:spcPct val="142000"/>
              </a:lnSpc>
            </a:pPr>
            <a:r>
              <a:rPr sz="1080" b="0">
                <a:solidFill>
                  <a:srgbClr val="000000"/>
                </a:solidFill>
                <a:latin typeface="Georgia"/>
              </a:rPr>
              <a:t>Same IDs, exploratory:  learned arm 100% PS online; learned−pure +18.69 points [+12.86, +28.33]. Labeled exploratory repair — developed after seeing the failures, so it never became a confirmatory claim.</a:t>
            </a:r>
          </a:p>
          <a:p>
            <a:pPr>
              <a:lnSpc>
                <a:spcPct val="142000"/>
              </a:lnSpc>
            </a:pPr>
            <a:r>
              <a:rPr sz="1080" b="0">
                <a:solidFill>
                  <a:srgbClr val="000000"/>
                </a:solidFill>
                <a:latin typeface="Georgia"/>
              </a:rPr>
              <a:t>IDs 101–110 (held-out):  main judgement PASS — pure−BM25 +16.55 [+9.17, +25.24], W/T/L 8/2/0. But the graph/noG secondary condition FAILED: input −14.7% &lt; the frozen 30%.</a:t>
            </a:r>
          </a:p>
          <a:p>
            <a:pPr>
              <a:lnSpc>
                <a:spcPct val="142000"/>
              </a:lnSpc>
            </a:pPr>
            <a:r>
              <a:rPr sz="1080" b="0">
                <a:solidFill>
                  <a:srgbClr val="000000"/>
                </a:solidFill>
                <a:latin typeface="Georgia"/>
              </a:rPr>
              <a:t>Diagnosis:  context compression ≠ API input compression — shared system/tool schema and ReAct history dominate. → compact target-delta serialization (v3), frozen on dev IDs 101–103 only.</a:t>
            </a:r>
          </a:p>
          <a:p>
            <a:pPr>
              <a:lnSpc>
                <a:spcPct val="142000"/>
              </a:lnSpc>
            </a:pPr>
            <a:r>
              <a:rPr sz="1080" b="1">
                <a:solidFill>
                  <a:srgbClr val="000000"/>
                </a:solidFill>
                <a:latin typeface="Georgia"/>
              </a:rPr>
              <a:t>IDs 111–120 (new frozen round):  −1.43 PS / −39.55% input → PASS (Part 2 slide).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86460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 i="0">
                <a:solidFill>
                  <a:srgbClr val="555555"/>
                </a:solidFill>
                <a:latin typeface="Georgia"/>
              </a:rPr>
              <a:t>All intermediate negatives preserved unchanged in results/ (no run overwritten, no ID or seed re-drawn) · e2e_scores*.json · e2e_failure_audit*.json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00000"/>
                </a:solidFill>
                <a:latin typeface="Georgia"/>
              </a:rPr>
              <a:t>Appendix — MINJA per-seed detail and identification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appendix · P3-A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31520"/>
            <a:ext cx="4160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150" b="1" i="0">
                <a:solidFill>
                  <a:srgbClr val="000000"/>
                </a:solidFill>
                <a:latin typeface="Georgia"/>
              </a:rPr>
              <a:t>Replication (3 seeds, 243 rounds):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000000"/>
                </a:solidFill>
                <a:latin typeface="Georgia"/>
              </a:rPr>
              <a:t>seed 0 ·  held-out ASR 6/12 · decisive cell 12/37 = 0.324 · edge found, gated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000000"/>
                </a:solidFill>
                <a:latin typeface="Georgia"/>
              </a:rPr>
              <a:t>seed 1 ·  ASR 1/12 · 6/31 = 0.194 · found, gated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000000"/>
                </a:solidFill>
                <a:latin typeface="Georgia"/>
              </a:rPr>
              <a:t>seed 2 ·  ASR 1/12 · 4/8 = 0.500 · found, not gated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000000"/>
                </a:solidFill>
                <a:latin typeface="Georgia"/>
              </a:rPr>
              <a:t>aggregate ·  ASR 8/36 = 0.222, Wilson [0.117, 0.381] · decisive 22/76 = 0.289, Wilson [0.200, 0.400] · note-free control 0/77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Georgia"/>
              </a:rPr>
              <a:t>(the 6/36 on the Part 3 slide is the P3-B round, a separate run) </a:t>
            </a:r>
            <a:r>
              <a:rPr sz="1000" b="1" i="0">
                <a:solidFill>
                  <a:srgbClr val="C0392B"/>
                </a:solidFill>
                <a:latin typeface="Georgia"/>
              </a:rPr>
              <a:t>⟨CONFIRM⟩</a:t>
            </a:r>
          </a:p>
          <a:p>
            <a:pPr>
              <a:lnSpc>
                <a:spcPct val="130000"/>
              </a:lnSpc>
            </a:pPr>
            <a:r>
              <a:rPr sz="1150" b="1" i="0">
                <a:solidFill>
                  <a:srgbClr val="000000"/>
                </a:solidFill>
                <a:latin typeface="Georgia"/>
              </a:rPr>
              <a:t>Discovery baselines (same traces):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000000"/>
                </a:solidFill>
                <a:latin typeface="Georgia"/>
              </a:rPr>
              <a:t>blind PCMCI 0/3 · additive u-as-node 2/3 · regime-subsampled 1/3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000000"/>
                </a:solidFill>
                <a:latin typeface="Georgia"/>
              </a:rPr>
              <a:t>seed-0 read coefficient: 0.77 in the read regime (p = 2.9e-6) vs 0.02 outside (p = 0.85)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731520"/>
            <a:ext cx="411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150" b="1" i="0">
                <a:solidFill>
                  <a:srgbClr val="000000"/>
                </a:solidFill>
                <a:latin typeface="Georgia"/>
              </a:rPr>
              <a:t>Boundaries that ship with the claim: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000000"/>
                </a:solidFill>
                <a:latin typeface="Georgia"/>
              </a:rPr>
              <a:t>·  poison_retr is constructed from the record's is_poison tag — the recovered structure sits on an oracle-tagged event channel; fully-blind record discovery is claimed nowhere for MINJA.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000000"/>
                </a:solidFill>
                <a:latin typeface="Georgia"/>
              </a:rPr>
              <a:t>·  lag-0 orientation comes from the instrumented retrieve-before-act order.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000000"/>
                </a:solidFill>
                <a:latin typeface="Georgia"/>
              </a:rPr>
              <a:t>·  seed heterogeneity is real (test ASR 6/12 vs 1/12): the pathway is reproducible, its strength is seed-dependent.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000000"/>
                </a:solidFill>
                <a:latin typeface="Georgia"/>
              </a:rPr>
              <a:t>·  MemAudit reproduction scores CMIS macro AUC 0.866 / precision@k 0.874 — our claim is temporal ancestry and one-graph-two-uses; a detection-score win is claimed nowhere.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86460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 i="0">
                <a:solidFill>
                  <a:srgbClr val="555555"/>
                </a:solidFill>
                <a:latin typeface="Georgia"/>
              </a:rPr>
              <a:t>minja_replication_summary.json · minja_audit_report_{v2,seed1,seed2}.json · memaudit_baseline_v2.json (lexical overlap stands in for NLI)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00000"/>
                </a:solidFill>
                <a:latin typeface="Georgia"/>
              </a:rPr>
              <a:t>Appendix — regime gating matters operationally (replay-only)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appendix · offline coverage</a:t>
            </a:r>
          </a:p>
        </p:txBody>
      </p:sp>
      <p:pic>
        <p:nvPicPr>
          <p:cNvPr id="4" name="Picture 3" descr="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822960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" y="2880360"/>
            <a:ext cx="84490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Georgia"/>
              </a:rPr>
              <a:t>Dropping the regime condition keeps coverage (+2 anomalous rounds) but touches 43 more benign rounds — collateral 8.8% → 40.4%. The score-based baseline with the same regime condition is precise but covers only 36.4%. “When is the edge active” is doing real selective work, matching Part 1's structural claim.</a:t>
            </a:r>
          </a:p>
          <a:p>
            <a:pPr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Georgia"/>
              </a:rPr>
              <a:t>These are coverage counts on saved trajectories with no LLM re-invocation, so they are a policy-design signal; online prevention is the P3-B test, and it failed.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86460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>
                <a:solidFill>
                  <a:srgbClr val="555555"/>
                </a:solidFill>
                <a:latin typeface="Georgia"/>
              </a:rPr>
              <a:t>results/real/causal_gate_v2.json · three seeds, micro-pooled: 107 anomalous / 136 benign rounds.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00000"/>
                </a:solidFill>
                <a:latin typeface="Georgia"/>
              </a:rPr>
              <a:t>Appendix — why P3-B failed, and the drafted (unrun) 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Georgia"/>
              </a:rPr>
              <a:t>appendix · P3-B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31520"/>
            <a:ext cx="4160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150" b="1">
                <a:solidFill>
                  <a:srgbClr val="000000"/>
                </a:solidFill>
                <a:latin typeface="Georgia"/>
              </a:rPr>
              <a:t>Power audit (diagnostic only):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·  AgentPoison: seed blocks 0 and 2 had ungated 0/24 — a 0-ASR floor. “≥2/3 blocks improve” was unsatisfiable with one evaluable block; conditional on evaluability the gate went 1/1, with 3 touched preventions and 0 reverse triggers. This FAIL is mostly the acceptance rule.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·  MINJA: a genuine limitation. ~55% of memory records never surfaced in calibration retrieval (poison-recall cap 0.24–0.39), and untouched controls flip answers at the size of the measured effect — clean-gated changed 10/24 answers while deleting zero retrievals.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731520"/>
            <a:ext cx="4114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150" b="1">
                <a:solidFill>
                  <a:srgbClr val="000000"/>
                </a:solidFill>
                <a:latin typeface="Georgia"/>
              </a:rPr>
              <a:t>Round-3 draft (frozen only after sign-off):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·  a-priori evaluability: a block counts only if ungated attacks ≥ 3; ≥ 3 evaluable blocks by construction, predicted from earlier rounds' ungated ASR only.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·  exposure: longer calibration (≥ 40 eligible trigger rounds) + the frozen embedding-cluster expansion already validated on AgentPoison (recall 0.50 → 1.00).</a:t>
            </a:r>
          </a:p>
          <a:p>
            <a:pPr>
              <a:lnSpc>
                <a:spcPct val="135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·  noise: primary endpoint becomes touched-only net prevention vs a pre-registered flip-rate floor from round 2; block ASR is secondary.</a:t>
            </a:r>
          </a:p>
          <a:p>
            <a:pPr>
              <a:lnSpc>
                <a:spcPct val="135000"/>
              </a:lnSpc>
            </a:pPr>
            <a:r>
              <a:rPr sz="1050" b="1">
                <a:solidFill>
                  <a:srgbClr val="000000"/>
                </a:solidFill>
                <a:latin typeface="Georgia"/>
              </a:rPr>
              <a:t>·  round-2 verdicts stay pass=false no matter what round 3 finds.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86460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 i="0">
                <a:solidFill>
                  <a:srgbClr val="555555"/>
                </a:solidFill>
                <a:latin typeface="Georgia"/>
              </a:rPr>
              <a:t>results/real/p3b_power_audit.json · docs/p3b-round3-preregistration-draft-2026-08-30.md — DRAFT, unrun; decision (5) on the decisions slide.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sz="1700" b="1" i="0">
                <a:solidFill>
                  <a:srgbClr val="000000"/>
                </a:solidFill>
                <a:latin typeface="Georgia"/>
              </a:rPr>
              <a:t>The formulation, written out (Layer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Georgia"/>
              </a:rPr>
              <a:t>3 · SCM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77240"/>
            <a:ext cx="411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Georgia"/>
              </a:rPr>
              <a:t>Variables and regime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000000"/>
                </a:solidFill>
                <a:latin typeface="Georgia"/>
              </a:rPr>
              <a:t>Xₜ = (Xₜ¹, …, Xₜᵈ): semantic slots at interaction step t, all observed.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00" b="0" i="0">
                <a:solidFill>
                  <a:srgbClr val="000000"/>
                </a:solidFill>
                <a:latin typeface="Georgia"/>
              </a:rPr>
              <a:t>Uₜ ∈ {write, hold, read}: the regime event at t.  Yₜ: the agent's output at t.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Georgia"/>
              </a:rPr>
              <a:t>Structural equations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000000"/>
                </a:solidFill>
                <a:latin typeface="Georgia"/>
              </a:rPr>
              <a:t>Xₜⁱ = fᵢ(Pa⁽⁰⁾(i) ⊂ Xₜ, Pa⁽¹⁾(i) ⊂ Xₜ₋₁, …, Pa⁽ᴷ⁾(i) ⊂ Xₜ₋ₖ; Uₜ; εₜⁱ)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000000"/>
                </a:solidFill>
                <a:latin typeface="Georgia"/>
              </a:rPr>
              <a:t>hold (Form A): if slot i is not written at t, Xₜⁱ = Xₜ₋₁ⁱ — persistence is a deterministic copy, so the value survives while its edges stay dormant.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00" b="0" i="0">
                <a:solidFill>
                  <a:srgbClr val="000000"/>
                </a:solidFill>
                <a:latin typeface="Georgia"/>
              </a:rPr>
              <a:t>read: Yₜ = h(Xₜ restricted to its gated parents; εₜʸ) when Uₜ = read.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Georgia"/>
              </a:rPr>
              <a:t>The object discovery must recover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000000"/>
                </a:solidFill>
                <a:latin typeface="Georgia"/>
              </a:rPr>
              <a:t>Ĝ = {A⁽ᵏ⁾ᵢⱼ, gᵢⱼ(u)}: lag-k adjacency together with a per-edge gate saying in which regime the edge is active. A pooled estimator sees only the marginal edge; the gate is what E0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77724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Georgia"/>
              </a:rPr>
              <a:t>Discovery: Regime-GRACE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000000"/>
                </a:solidFill>
                <a:latin typeface="Georgia"/>
              </a:rPr>
              <a:t>GRACE with the regime as an input to every edge score. </a:t>
            </a:r>
            <a:r>
              <a:rPr sz="1000" b="1" i="0">
                <a:solidFill>
                  <a:srgbClr val="C0392B"/>
                </a:solidFill>
                <a:latin typeface="Georgia"/>
              </a:rPr>
              <a:t>⟨FILL: exact form — gate gᵢⱼ(u) on the score, or per-regime parameters?⟩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00" b="0" i="0">
                <a:solidFill>
                  <a:srgbClr val="000000"/>
                </a:solidFill>
                <a:latin typeface="Georgia"/>
              </a:rPr>
              <a:t>Baselines on the same traces: blind PCMCI+ (regime ignored) · additive u-as-node (CD-NOD-style surrogate) · regime-subsampled.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Georgia"/>
              </a:rPr>
              <a:t>Forward use (P2): the frontier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00" b="0" i="0">
                <a:solidFill>
                  <a:srgbClr val="000000"/>
                </a:solidFill>
                <a:latin typeface="Georgia"/>
              </a:rPr>
              <a:t>Fₜ = ancestors in Ĝ of the slots the current query reads, within K lags and under the current regime; memory is serialized from Fₜ only, under a fixed budget. </a:t>
            </a:r>
            <a:r>
              <a:rPr sz="1000" b="1" i="0">
                <a:solidFill>
                  <a:srgbClr val="C0392B"/>
                </a:solidFill>
                <a:latin typeface="Georgia"/>
              </a:rPr>
              <a:t>⟨CONFIRM: the query-ancestry rule P2 ran⟩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Georgia"/>
              </a:rPr>
              <a:t>Backward use (P3): write ancestry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00" b="0" i="0">
                <a:solidFill>
                  <a:srgbClr val="000000"/>
                </a:solidFill>
                <a:latin typeface="Georgia"/>
              </a:rPr>
              <a:t>From a flagged output Yᵇᵃᵈ, traverse gated edges backward to the write step(s) that produced its parents.</a:t>
            </a:r>
          </a:p>
          <a:p>
            <a:pPr>
              <a:lnSpc>
                <a:spcPct val="120000"/>
              </a:lnSpc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Georgia"/>
              </a:rPr>
              <a:t>Where Layer 2 enters</a:t>
            </a:r>
          </a:p>
          <a:p>
            <a:pPr>
              <a:lnSpc>
                <a:spcPct val="120000"/>
              </a:lnSpc>
            </a:pPr>
            <a:r>
              <a:rPr sz="1000" b="0" i="0">
                <a:solidFill>
                  <a:srgbClr val="000000"/>
                </a:solidFill>
                <a:latin typeface="Georgia"/>
              </a:rPr>
              <a:t>Everything above is observed. Layer 2 puts the same object over latent zₜ (thoughts / plans) generating Xₜ; “what the agent is thinking” lives there and is claimed nowhere in round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86460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 i="0">
                <a:solidFill>
                  <a:srgbClr val="555555"/>
                </a:solidFill>
                <a:latin typeface="Georgia"/>
              </a:rPr>
              <a:t>Written in response to your 7/29 request for explicit within- and cross-step functions; the full v0.2 text is in the formulation doc.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sz="1700" b="1" i="0">
                <a:solidFill>
                  <a:srgbClr val="000000"/>
                </a:solidFill>
                <a:latin typeface="Georgia"/>
              </a:rPr>
              <a:t>Scale — your first question on 8/15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1828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Georgia"/>
              </a:rPr>
              <a:t>4 ·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77240"/>
            <a:ext cx="84490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 i="0">
                <a:solidFill>
                  <a:srgbClr val="000000"/>
                </a:solidFill>
                <a:latin typeface="Georgia"/>
              </a:rPr>
              <a:t>Where round 1 sits</a:t>
            </a:r>
          </a:p>
          <a:p>
            <a:pPr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Georgia"/>
              </a:rPr>
              <a:t>E0 (synthetic):  d = </a:t>
            </a:r>
            <a:r>
              <a:rPr sz="1100" b="1" i="0">
                <a:solidFill>
                  <a:srgbClr val="C0392B"/>
                </a:solidFill>
                <a:latin typeface="Georgia"/>
              </a:rPr>
              <a:t>⟨FILL⟩</a:t>
            </a:r>
            <a:r>
              <a:rPr sz="1100" b="0" i="0">
                <a:solidFill>
                  <a:srgbClr val="000000"/>
                </a:solidFill>
                <a:latin typeface="Georgia"/>
              </a:rPr>
              <a:t> variables · 3,000 steps per run · read regime on 5% of steps (150 / 3,000).</a:t>
            </a:r>
          </a:p>
          <a:p>
            <a:pPr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Georgia"/>
              </a:rPr>
              <a:t>P2 (MemoryArena):  </a:t>
            </a:r>
            <a:r>
              <a:rPr sz="1100" b="1" i="0">
                <a:solidFill>
                  <a:srgbClr val="C0392B"/>
                </a:solidFill>
                <a:latin typeface="Georgia"/>
              </a:rPr>
              <a:t>⟨FILL⟩</a:t>
            </a:r>
            <a:r>
              <a:rPr sz="1100" b="0" i="0">
                <a:solidFill>
                  <a:srgbClr val="000000"/>
                </a:solidFill>
                <a:latin typeface="Georgia"/>
              </a:rPr>
              <a:t> slots per schema · graph learned on IDs ≤ 110 · </a:t>
            </a:r>
            <a:r>
              <a:rPr sz="1100" b="1" i="0">
                <a:solidFill>
                  <a:srgbClr val="C0392B"/>
                </a:solidFill>
                <a:latin typeface="Georgia"/>
              </a:rPr>
              <a:t>⟨FILL⟩</a:t>
            </a:r>
            <a:r>
              <a:rPr sz="1100" b="0" i="0">
                <a:solidFill>
                  <a:srgbClr val="000000"/>
                </a:solidFill>
                <a:latin typeface="Georgia"/>
              </a:rPr>
              <a:t> episodes.</a:t>
            </a:r>
          </a:p>
          <a:p>
            <a:pPr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Georgia"/>
              </a:rPr>
              <a:t>P3 (MINJA / AgentPoison):  </a:t>
            </a:r>
            <a:r>
              <a:rPr sz="1100" b="1" i="0">
                <a:solidFill>
                  <a:srgbClr val="C0392B"/>
                </a:solidFill>
                <a:latin typeface="Georgia"/>
              </a:rPr>
              <a:t>⟨FILL⟩</a:t>
            </a:r>
            <a:r>
              <a:rPr sz="1100" b="0" i="0">
                <a:solidFill>
                  <a:srgbClr val="000000"/>
                </a:solidFill>
                <a:latin typeface="Georgia"/>
              </a:rPr>
              <a:t> variables (record and event channels) · MINJA: 243 rounds over 3 seeds.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000000"/>
                </a:solidFill>
                <a:latin typeface="Georgia"/>
              </a:rPr>
              <a:t>Regime-GRACE ceiling:  ~100 variables, inherited from GRACE (your 8/15 question). </a:t>
            </a:r>
            <a:r>
              <a:rPr sz="1100" b="1" i="0">
                <a:solidFill>
                  <a:srgbClr val="C0392B"/>
                </a:solidFill>
                <a:latin typeface="Georgia"/>
              </a:rPr>
              <a:t>⟨CONFIRM: unchanged for the regime version?⟩</a:t>
            </a:r>
            <a:r>
              <a:rPr sz="1100" b="0" i="0">
                <a:solidFill>
                  <a:srgbClr val="000000"/>
                </a:solidFill>
                <a:latin typeface="Georgia"/>
              </a:rPr>
              <a:t>  The grouping fallback you proposed was </a:t>
            </a:r>
            <a:r>
              <a:rPr sz="1100" b="1" i="0">
                <a:solidFill>
                  <a:srgbClr val="C0392B"/>
                </a:solidFill>
                <a:latin typeface="Georgia"/>
              </a:rPr>
              <a:t>⟨FILL: needed / not needed⟩</a:t>
            </a:r>
            <a:r>
              <a:rPr sz="1100" b="0" i="0">
                <a:solidFill>
                  <a:srgbClr val="000000"/>
                </a:solidFill>
                <a:latin typeface="Georgia"/>
              </a:rPr>
              <a:t> in round 1.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 i="0">
                <a:solidFill>
                  <a:srgbClr val="000000"/>
                </a:solidFill>
                <a:latin typeface="Georgia"/>
              </a:rPr>
              <a:t>What round 1 does not contain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000000"/>
                </a:solidFill>
                <a:latin typeface="Georgia"/>
              </a:rPr>
              <a:t>The simulation you called mandatory on 8/21 — SCM/MLP-generated data with known ground truth, structure recovery scored — at the scale you asked for on 7/29 (thousands of variables). E0 shows the gating mechanism on </a:t>
            </a:r>
            <a:r>
              <a:rPr sz="1100" b="1" i="0">
                <a:solidFill>
                  <a:srgbClr val="C0392B"/>
                </a:solidFill>
                <a:latin typeface="Georgia"/>
              </a:rPr>
              <a:t>⟨FILL⟩</a:t>
            </a:r>
            <a:r>
              <a:rPr sz="1100" b="0" i="0">
                <a:solidFill>
                  <a:srgbClr val="000000"/>
                </a:solidFill>
                <a:latin typeface="Georgia"/>
              </a:rPr>
              <a:t> variables; scale is untested.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 i="0">
                <a:solidFill>
                  <a:srgbClr val="000000"/>
                </a:solidFill>
                <a:latin typeface="Georgia"/>
              </a:rPr>
              <a:t>Proposal for round 2 (unrun — your sign-off first)</a:t>
            </a:r>
          </a:p>
          <a:p>
            <a:pPr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Georgia"/>
              </a:rPr>
              <a:t>d ∈ {50, 200, 1,000, 5,000} · MLP mechanisms · sparse lag-k graphs with a regime-gated subset of edges · report SHD / F1 vs d for Regime-GRACE, blind PCMCI+ and additive u-as-node · grouping applied above the GRACE ceiling and reported as a separate curve.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224528"/>
            <a:ext cx="8449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 b="1" i="0">
                <a:solidFill>
                  <a:srgbClr val="000000"/>
                </a:solidFill>
                <a:latin typeface="Georgia"/>
              </a:rPr>
              <a:t>This is decision 3 on the decisions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864608"/>
            <a:ext cx="8449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900" b="0" i="0">
                <a:solidFill>
                  <a:srgbClr val="555555"/>
                </a:solidFill>
                <a:latin typeface="Georgia"/>
              </a:rPr>
              <a:t>Simulation design follows your 8/21 guidance: follow existing papers for the simulation part; coverage over depth for the two applied parts.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